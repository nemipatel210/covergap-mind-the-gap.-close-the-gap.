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Lst>
  <p:sldSz cy="6858000" cx="12192000"/>
  <p:notesSz cx="6858000" cy="12192000"/>
  <p:embeddedFontLst>
    <p:embeddedFont>
      <p:font typeface="IBM Plex Sans"/>
      <p:regular r:id="rId10"/>
      <p:bold r:id="rId11"/>
      <p:italic r:id="rId12"/>
      <p:boldItalic r:id="rId13"/>
    </p:embeddedFont>
    <p:embeddedFont>
      <p:font typeface="IBM Plex Mono"/>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IBMPlexSans-bold.fntdata"/><Relationship Id="rId10" Type="http://schemas.openxmlformats.org/officeDocument/2006/relationships/font" Target="fonts/IBMPlexSans-regular.fntdata"/><Relationship Id="rId13" Type="http://schemas.openxmlformats.org/officeDocument/2006/relationships/font" Target="fonts/IBMPlexSans-boldItalic.fntdata"/><Relationship Id="rId12" Type="http://schemas.openxmlformats.org/officeDocument/2006/relationships/font" Target="fonts/IBMPlexSans-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IBMPlexMono-bold.fntdata"/><Relationship Id="rId14" Type="http://schemas.openxmlformats.org/officeDocument/2006/relationships/font" Target="fonts/IBMPlexMono-regular.fntdata"/><Relationship Id="rId17" Type="http://schemas.openxmlformats.org/officeDocument/2006/relationships/font" Target="fonts/IBMPlexMono-boldItalic.fntdata"/><Relationship Id="rId16" Type="http://schemas.openxmlformats.org/officeDocument/2006/relationships/font" Target="fonts/IBMPlexMono-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 name="Google Shape;14;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Hi, we're CoverGap. Sevaro's neurologists cover 200+ hospitals remotely. When one hospital surges just as doctors end their shift, a stroke patient can end up waiting with nobody approved there who is free. CoverGap minds that gap before it opens, and closes it with a person approving every step.</a:t>
            </a:r>
            <a:endParaRPr/>
          </a:p>
        </p:txBody>
      </p:sp>
      <p:sp>
        <p:nvSpPr>
          <p:cNvPr id="15" name="Google Shape;15;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h463f831731190542_2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 name="Google Shape;26;h463f831731190542_2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problem: Sevaro covers 200+ hospitals. A hospital can get a rush of stroke consults just as doctors finish their shift. Being free isn't enough, a doctor must be approved at that hospital, so a patient can wait while doctors sit idle elsewhere. Today a person has to spot it and fix it by phone. CoverGap watches for hospitals short of a doctor now or in the next two hours, picks the right off-duty doctor with every safety rule checked, and once the clinical lead approves, the doctor accepts on their phone.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For each problem, it checks every doctor against the brief’s 8 safety rules: opted in, credentialed at the hospital, 10h rest, at most 60h in 7 days, no clash with their own shift, at least 2h of useful time, one open offer, and fewer than 3 offers a week. It ranks the doctors who pass and offers the best fix as Plan A and the next best as Plan B, with the reason for each.</a:t>
            </a:r>
            <a:endParaRPr/>
          </a:p>
        </p:txBody>
      </p:sp>
      <p:sp>
        <p:nvSpPr>
          <p:cNvPr id="27" name="Google Shape;27;h463f831731190542_2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 name="Google Shape;4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What's unique. One: role-shaped views. The coordinator, the clinical lead and the off-duty doctor each see only what they need, ranked for them. Two: options side by side. Each plan shows what it does to coverage and to the joining doctor's workload, so the approver sees the trade-off. Three: reasoning for yes and no. For each off-duty doctor we show all eight safety rules, pass or fail, and every plan says what happens if it is approved and what happens if it is rejected. Four: a routing simulator stops a newly joined doctor from getting every call. Five: if the doctor doesn't reply within a minute, an AI assistant calls them and reads only the approved offer. Six: we rebuild the picture from what actually happened, not from what doctors self-report, and match Sevaro's reference snapshot on all 146 checks.</a:t>
            </a:r>
            <a:endParaRPr/>
          </a:p>
        </p:txBody>
      </p:sp>
      <p:sp>
        <p:nvSpPr>
          <p:cNvPr id="43" name="Google Shape;43;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463f831731190542_2_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 name="Google Shape;75;h463f831731190542_2_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Top row, mind the gap: updates arrive, get checked and cleaned, are replayed into one live picture, and the detection engine spots hospitals short now or in the next two hours. Bottom row, close the gap: the decision engine suggests the best fix, the clinical lead approves in the web app, the doctor is alerted on their phone with an AI follow-up call, and the gap closes with every step logged. Then it loops back and keeps watching. Today it runs on Python and FastAPI with a React and TypeScript front end, 38 automated tests, and no outside services needed. To run it in production at Sevaro's scale, our plan is Amazon S3 for incoming files, AWS Lambda for the engine, MongoDB Atlas for state and Amazon SNS for alerts.</a:t>
            </a:r>
            <a:endParaRPr/>
          </a:p>
        </p:txBody>
      </p:sp>
      <p:sp>
        <p:nvSpPr>
          <p:cNvPr id="76" name="Google Shape;76;h463f831731190542_2_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 name="Google Shape;84;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These are live screens from our build. One: the coordinator's What to do now, with the top problem and Plan A and Plan B. Two: the decision screen showing every off-duty doctor and the rule each one passed or failed. Three: the clinical lead approving in one step. Four: the offer on the doctor's phone, with no patient details and a ten-minute countdown. Five: the AI follow-up call if they don't reply within a minute.</a:t>
            </a:r>
            <a:endParaRPr/>
          </a:p>
        </p:txBody>
      </p:sp>
      <p:sp>
        <p:nvSpPr>
          <p:cNvPr id="85" name="Google Shape;85;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4F4F1"/>
        </a:solidFill>
      </p:bgPr>
    </p:bg>
    <p:spTree>
      <p:nvGrpSpPr>
        <p:cNvPr id="8" name="Shape 8"/>
        <p:cNvGrpSpPr/>
        <p:nvPr/>
      </p:nvGrpSpPr>
      <p:grpSpPr>
        <a:xfrm>
          <a:off x="0" y="0"/>
          <a:ext cx="0" cy="0"/>
          <a:chOff x="0" y="0"/>
          <a:chExt cx="0" cy="0"/>
        </a:xfrm>
      </p:grpSpPr>
      <p:sp>
        <p:nvSpPr>
          <p:cNvPr id="9" name="Google Shape;9;p2"/>
          <p:cNvSpPr txBox="1"/>
          <p:nvPr>
            <p:ph type="title"/>
          </p:nvPr>
        </p:nvSpPr>
        <p:spPr>
          <a:xfrm>
            <a:off x="812767" y="1115026"/>
            <a:ext cx="10566467" cy="642607"/>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D2830"/>
              </a:buClr>
              <a:buSzPts val="3000"/>
              <a:buFont typeface="IBM Plex Sans"/>
              <a:buNone/>
              <a:defRPr sz="3000">
                <a:solidFill>
                  <a:srgbClr val="1D2830"/>
                </a:solidFill>
                <a:latin typeface="IBM Plex Sans"/>
                <a:ea typeface="IBM Plex Sans"/>
                <a:cs typeface="IBM Plex Sans"/>
                <a:sym typeface="IBM Plex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 name="Google Shape;10;p2"/>
          <p:cNvSpPr txBox="1"/>
          <p:nvPr>
            <p:ph idx="1" type="body"/>
          </p:nvPr>
        </p:nvSpPr>
        <p:spPr>
          <a:xfrm>
            <a:off x="812767" y="2062433"/>
            <a:ext cx="10566433" cy="3982767"/>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D2830"/>
              </a:buClr>
              <a:buSzPts val="1600"/>
              <a:buNone/>
              <a:defRPr sz="1600">
                <a:solidFill>
                  <a:srgbClr val="1D2830"/>
                </a:solidFill>
                <a:latin typeface="IBM Plex Sans"/>
                <a:ea typeface="IBM Plex Sans"/>
                <a:cs typeface="IBM Plex Sans"/>
                <a:sym typeface="IBM Plex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12767" y="1115026"/>
            <a:ext cx="10566467" cy="642607"/>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D2830"/>
              </a:buClr>
              <a:buSzPts val="3000"/>
              <a:buFont typeface="IBM Plex Sans"/>
              <a:buNone/>
              <a:defRPr b="0" i="0" sz="3000" u="none" cap="none" strike="noStrike">
                <a:solidFill>
                  <a:srgbClr val="1D2830"/>
                </a:solidFill>
                <a:latin typeface="IBM Plex Sans"/>
                <a:ea typeface="IBM Plex Sans"/>
                <a:cs typeface="IBM Plex Sans"/>
                <a:sym typeface="IBM Plex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12767" y="2062433"/>
            <a:ext cx="10566433" cy="3982767"/>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D2830"/>
              </a:buClr>
              <a:buSzPts val="1600"/>
              <a:buFont typeface="Arial"/>
              <a:buNone/>
              <a:defRPr b="0" i="0" sz="1600" u="none" cap="none" strike="noStrike">
                <a:solidFill>
                  <a:srgbClr val="1D2830"/>
                </a:solidFill>
                <a:latin typeface="IBM Plex Sans"/>
                <a:ea typeface="IBM Plex Sans"/>
                <a:cs typeface="IBM Plex Sans"/>
                <a:sym typeface="IBM Plex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BM Plex Sans"/>
                <a:ea typeface="IBM Plex Sans"/>
                <a:cs typeface="IBM Plex Sans"/>
                <a:sym typeface="IBM Plex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BM Plex Sans"/>
                <a:ea typeface="IBM Plex Sans"/>
                <a:cs typeface="IBM Plex Sans"/>
                <a:sym typeface="IBM Plex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3.png"/><Relationship Id="rId9" Type="http://schemas.openxmlformats.org/officeDocument/2006/relationships/image" Target="../media/image4.png"/><Relationship Id="rId5" Type="http://schemas.openxmlformats.org/officeDocument/2006/relationships/image" Target="../media/image15.png"/><Relationship Id="rId6" Type="http://schemas.openxmlformats.org/officeDocument/2006/relationships/image" Target="../media/image7.png"/><Relationship Id="rId7" Type="http://schemas.openxmlformats.org/officeDocument/2006/relationships/image" Target="../media/image9.png"/><Relationship Id="rId8"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jpg"/><Relationship Id="rId4" Type="http://schemas.openxmlformats.org/officeDocument/2006/relationships/image" Target="../media/image10.jpg"/><Relationship Id="rId5" Type="http://schemas.openxmlformats.org/officeDocument/2006/relationships/image" Target="../media/image16.jpg"/><Relationship Id="rId6" Type="http://schemas.openxmlformats.org/officeDocument/2006/relationships/image" Target="../media/image6.jpg"/><Relationship Id="rId7" Type="http://schemas.openxmlformats.org/officeDocument/2006/relationships/image" Target="../media/image14.jpg"/><Relationship Id="rId8"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3D56"/>
        </a:solidFill>
      </p:bgPr>
    </p:bg>
    <p:spTree>
      <p:nvGrpSpPr>
        <p:cNvPr id="16" name="Shape 16"/>
        <p:cNvGrpSpPr/>
        <p:nvPr/>
      </p:nvGrpSpPr>
      <p:grpSpPr>
        <a:xfrm>
          <a:off x="0" y="0"/>
          <a:ext cx="0" cy="0"/>
          <a:chOff x="0" y="0"/>
          <a:chExt cx="0" cy="0"/>
        </a:xfrm>
      </p:grpSpPr>
      <p:sp>
        <p:nvSpPr>
          <p:cNvPr id="17" name="Google Shape;17;p4"/>
          <p:cNvSpPr/>
          <p:nvPr/>
        </p:nvSpPr>
        <p:spPr>
          <a:xfrm>
            <a:off x="812767" y="812767"/>
            <a:ext cx="457178" cy="457178"/>
          </a:xfrm>
          <a:prstGeom prst="roundRect">
            <a:avLst>
              <a:gd fmla="val 2222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ctivity" id="18" name="Google Shape;18;p4"/>
          <p:cNvPicPr preferRelativeResize="0"/>
          <p:nvPr/>
        </p:nvPicPr>
        <p:blipFill rotWithShape="1">
          <a:blip r:embed="rId3">
            <a:alphaModFix/>
          </a:blip>
          <a:srcRect b="0" l="0" r="0" t="0"/>
          <a:stretch/>
        </p:blipFill>
        <p:spPr>
          <a:xfrm>
            <a:off x="901678" y="901678"/>
            <a:ext cx="279356" cy="279356"/>
          </a:xfrm>
          <a:prstGeom prst="rect">
            <a:avLst/>
          </a:prstGeom>
          <a:noFill/>
          <a:ln>
            <a:noFill/>
          </a:ln>
        </p:spPr>
      </p:pic>
      <p:sp>
        <p:nvSpPr>
          <p:cNvPr id="19" name="Google Shape;19;p4"/>
          <p:cNvSpPr/>
          <p:nvPr/>
        </p:nvSpPr>
        <p:spPr>
          <a:xfrm>
            <a:off x="1422301" y="934641"/>
            <a:ext cx="6628143"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4CC"/>
              </a:buClr>
              <a:buSzPts val="1200"/>
              <a:buFont typeface="IBM Plex Mono"/>
              <a:buNone/>
            </a:pPr>
            <a:r>
              <a:rPr b="0" i="0" lang="en-US" sz="1200" u="none" cap="none" strike="noStrike">
                <a:solidFill>
                  <a:srgbClr val="B9C4CC"/>
                </a:solidFill>
                <a:latin typeface="IBM Plex Mono"/>
                <a:ea typeface="IBM Plex Mono"/>
                <a:cs typeface="IBM Plex Mono"/>
                <a:sym typeface="IBM Plex Mono"/>
              </a:rPr>
              <a:t>RUTGERS HEALTH HACK · SEVARO CHALLENGE 2 · TEAM 07</a:t>
            </a:r>
            <a:endParaRPr b="0" i="0" sz="1200" u="none" cap="none" strike="noStrike">
              <a:solidFill>
                <a:schemeClr val="dk1"/>
              </a:solidFill>
              <a:latin typeface="IBM Plex Sans"/>
              <a:ea typeface="IBM Plex Sans"/>
              <a:cs typeface="IBM Plex Sans"/>
              <a:sym typeface="IBM Plex Sans"/>
            </a:endParaRPr>
          </a:p>
        </p:txBody>
      </p:sp>
      <p:sp>
        <p:nvSpPr>
          <p:cNvPr id="20" name="Google Shape;20;p4"/>
          <p:cNvSpPr/>
          <p:nvPr/>
        </p:nvSpPr>
        <p:spPr>
          <a:xfrm>
            <a:off x="812767" y="5704858"/>
            <a:ext cx="2441829" cy="340375"/>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4F4F1"/>
              </a:buClr>
              <a:buSzPts val="1200"/>
              <a:buFont typeface="IBM Plex Sans"/>
              <a:buNone/>
            </a:pPr>
            <a:r>
              <a:rPr b="0" i="0" lang="en-US" sz="1200" u="none" cap="none" strike="noStrike">
                <a:solidFill>
                  <a:srgbClr val="F4F4F1"/>
                </a:solidFill>
                <a:latin typeface="IBM Plex Sans"/>
                <a:ea typeface="IBM Plex Sans"/>
                <a:cs typeface="IBM Plex Sans"/>
                <a:sym typeface="IBM Plex Sans"/>
              </a:rPr>
              <a:t>A human approves every call-in</a:t>
            </a:r>
            <a:endParaRPr b="0" i="0" sz="1200" u="none" cap="none" strike="noStrike">
              <a:solidFill>
                <a:schemeClr val="dk1"/>
              </a:solidFill>
              <a:latin typeface="IBM Plex Sans"/>
              <a:ea typeface="IBM Plex Sans"/>
              <a:cs typeface="IBM Plex Sans"/>
              <a:sym typeface="IBM Plex Sans"/>
            </a:endParaRPr>
          </a:p>
        </p:txBody>
      </p:sp>
      <p:sp>
        <p:nvSpPr>
          <p:cNvPr id="21" name="Google Shape;21;p4"/>
          <p:cNvSpPr/>
          <p:nvPr/>
        </p:nvSpPr>
        <p:spPr>
          <a:xfrm>
            <a:off x="3356185" y="5704858"/>
            <a:ext cx="2594791" cy="340375"/>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4F4F1"/>
              </a:buClr>
              <a:buSzPts val="1200"/>
              <a:buFont typeface="IBM Plex Sans"/>
              <a:buNone/>
            </a:pPr>
            <a:r>
              <a:rPr b="0" i="0" lang="en-US" sz="1200" u="none" cap="none" strike="noStrike">
                <a:solidFill>
                  <a:srgbClr val="F4F4F1"/>
                </a:solidFill>
                <a:latin typeface="IBM Plex Sans"/>
                <a:ea typeface="IBM Plex Sans"/>
                <a:cs typeface="IBM Plex Sans"/>
                <a:sym typeface="IBM Plex Sans"/>
              </a:rPr>
              <a:t>No patient details in any message</a:t>
            </a:r>
            <a:endParaRPr b="0" i="0" sz="1200" u="none" cap="none" strike="noStrike">
              <a:solidFill>
                <a:schemeClr val="dk1"/>
              </a:solidFill>
              <a:latin typeface="IBM Plex Sans"/>
              <a:ea typeface="IBM Plex Sans"/>
              <a:cs typeface="IBM Plex Sans"/>
              <a:sym typeface="IBM Plex Sans"/>
            </a:endParaRPr>
          </a:p>
        </p:txBody>
      </p:sp>
      <p:sp>
        <p:nvSpPr>
          <p:cNvPr id="22" name="Google Shape;22;p4"/>
          <p:cNvSpPr/>
          <p:nvPr/>
        </p:nvSpPr>
        <p:spPr>
          <a:xfrm>
            <a:off x="6052565" y="5704858"/>
            <a:ext cx="1925120" cy="340375"/>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4F4F1"/>
              </a:buClr>
              <a:buSzPts val="1200"/>
              <a:buFont typeface="IBM Plex Sans"/>
              <a:buNone/>
            </a:pPr>
            <a:r>
              <a:rPr b="0" i="0" lang="en-US" sz="1200" u="none" cap="none" strike="noStrike">
                <a:solidFill>
                  <a:srgbClr val="F4F4F1"/>
                </a:solidFill>
                <a:latin typeface="IBM Plex Sans"/>
                <a:ea typeface="IBM Plex Sans"/>
                <a:cs typeface="IBM Plex Sans"/>
                <a:sym typeface="IBM Plex Sans"/>
              </a:rPr>
              <a:t>Every action is recorded</a:t>
            </a:r>
            <a:endParaRPr b="0" i="0" sz="1200" u="none" cap="none" strike="noStrike">
              <a:solidFill>
                <a:schemeClr val="dk1"/>
              </a:solidFill>
              <a:latin typeface="IBM Plex Sans"/>
              <a:ea typeface="IBM Plex Sans"/>
              <a:cs typeface="IBM Plex Sans"/>
              <a:sym typeface="IBM Plex Sans"/>
            </a:endParaRPr>
          </a:p>
        </p:txBody>
      </p:sp>
      <p:pic>
        <p:nvPicPr>
          <p:cNvPr id="23" name="Google Shape;23;p4"/>
          <p:cNvPicPr preferRelativeResize="0"/>
          <p:nvPr/>
        </p:nvPicPr>
        <p:blipFill rotWithShape="1">
          <a:blip r:embed="rId4">
            <a:alphaModFix/>
          </a:blip>
          <a:srcRect b="0" l="0" r="0" t="0"/>
          <a:stretch/>
        </p:blipFill>
        <p:spPr>
          <a:xfrm>
            <a:off x="272900" y="1163288"/>
            <a:ext cx="9062829" cy="45314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1"/>
        </a:solidFill>
      </p:bgPr>
    </p:bg>
    <p:spTree>
      <p:nvGrpSpPr>
        <p:cNvPr id="28" name="Shape 28"/>
        <p:cNvGrpSpPr/>
        <p:nvPr/>
      </p:nvGrpSpPr>
      <p:grpSpPr>
        <a:xfrm>
          <a:off x="0" y="0"/>
          <a:ext cx="0" cy="0"/>
          <a:chOff x="0" y="0"/>
          <a:chExt cx="0" cy="0"/>
        </a:xfrm>
      </p:grpSpPr>
      <p:sp>
        <p:nvSpPr>
          <p:cNvPr id="29" name="Google Shape;29;p5"/>
          <p:cNvSpPr/>
          <p:nvPr/>
        </p:nvSpPr>
        <p:spPr>
          <a:xfrm>
            <a:off x="815942" y="349693"/>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870"/>
              </a:buClr>
              <a:buSzPts val="1200"/>
              <a:buFont typeface="IBM Plex Mono"/>
              <a:buNone/>
            </a:pPr>
            <a:r>
              <a:rPr b="1" lang="en-US" sz="1200">
                <a:solidFill>
                  <a:srgbClr val="5B6870"/>
                </a:solidFill>
                <a:latin typeface="IBM Plex Mono"/>
                <a:ea typeface="IBM Plex Mono"/>
                <a:cs typeface="IBM Plex Mono"/>
                <a:sym typeface="IBM Plex Mono"/>
              </a:rPr>
              <a:t>THE PROBLEM · THE SOLUTION</a:t>
            </a:r>
            <a:endParaRPr sz="1200">
              <a:solidFill>
                <a:schemeClr val="dk1"/>
              </a:solidFill>
              <a:latin typeface="IBM Plex Sans"/>
              <a:ea typeface="IBM Plex Sans"/>
              <a:cs typeface="IBM Plex Sans"/>
              <a:sym typeface="IBM Plex Sans"/>
            </a:endParaRPr>
          </a:p>
        </p:txBody>
      </p:sp>
      <p:sp>
        <p:nvSpPr>
          <p:cNvPr id="30" name="Google Shape;30;p5"/>
          <p:cNvSpPr txBox="1"/>
          <p:nvPr>
            <p:ph type="title"/>
          </p:nvPr>
        </p:nvSpPr>
        <p:spPr>
          <a:xfrm>
            <a:off x="815942" y="835101"/>
            <a:ext cx="10883400" cy="919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D2830"/>
              </a:buClr>
              <a:buSzPct val="100000"/>
              <a:buFont typeface="IBM Plex Sans"/>
              <a:buNone/>
            </a:pPr>
            <a:r>
              <a:rPr b="1" i="0" lang="en-US" sz="3200">
                <a:solidFill>
                  <a:srgbClr val="1D2830"/>
                </a:solidFill>
                <a:latin typeface="IBM Plex Sans"/>
                <a:ea typeface="IBM Plex Sans"/>
                <a:cs typeface="IBM Plex Sans"/>
                <a:sym typeface="IBM Plex Sans"/>
              </a:rPr>
              <a:t>Minutes matter in a stroke. Coverage slips without warning.</a:t>
            </a:r>
            <a:endParaRPr sz="3200"/>
          </a:p>
        </p:txBody>
      </p:sp>
      <p:sp>
        <p:nvSpPr>
          <p:cNvPr id="31" name="Google Shape;31;p5"/>
          <p:cNvSpPr/>
          <p:nvPr/>
        </p:nvSpPr>
        <p:spPr>
          <a:xfrm>
            <a:off x="812775" y="1553775"/>
            <a:ext cx="5149800" cy="2444400"/>
          </a:xfrm>
          <a:prstGeom prst="roundRect">
            <a:avLst>
              <a:gd fmla="val 3382" name="adj"/>
            </a:avLst>
          </a:prstGeom>
          <a:solidFill>
            <a:srgbClr val="FFFFFF"/>
          </a:solidFill>
          <a:ln cap="flat" cmpd="sng" w="9525">
            <a:solidFill>
              <a:srgbClr val="E1E0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5"/>
          <p:cNvSpPr/>
          <p:nvPr/>
        </p:nvSpPr>
        <p:spPr>
          <a:xfrm>
            <a:off x="1049787" y="1657524"/>
            <a:ext cx="4675800" cy="36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64F0F"/>
              </a:buClr>
              <a:buSzPts val="2200"/>
              <a:buFont typeface="IBM Plex Sans"/>
              <a:buNone/>
            </a:pPr>
            <a:r>
              <a:rPr b="1" lang="en-US" sz="2200">
                <a:solidFill>
                  <a:srgbClr val="A64F0F"/>
                </a:solidFill>
                <a:latin typeface="IBM Plex Sans"/>
                <a:ea typeface="IBM Plex Sans"/>
                <a:cs typeface="IBM Plex Sans"/>
                <a:sym typeface="IBM Plex Sans"/>
              </a:rPr>
              <a:t>The gap</a:t>
            </a:r>
            <a:endParaRPr sz="2200">
              <a:solidFill>
                <a:schemeClr val="dk1"/>
              </a:solidFill>
              <a:latin typeface="IBM Plex Sans"/>
              <a:ea typeface="IBM Plex Sans"/>
              <a:cs typeface="IBM Plex Sans"/>
              <a:sym typeface="IBM Plex Sans"/>
            </a:endParaRPr>
          </a:p>
        </p:txBody>
      </p:sp>
      <p:sp>
        <p:nvSpPr>
          <p:cNvPr id="33" name="Google Shape;33;p5"/>
          <p:cNvSpPr/>
          <p:nvPr/>
        </p:nvSpPr>
        <p:spPr>
          <a:xfrm>
            <a:off x="1049782" y="2111642"/>
            <a:ext cx="4597200" cy="1625400"/>
          </a:xfrm>
          <a:prstGeom prst="rect">
            <a:avLst/>
          </a:prstGeom>
          <a:noFill/>
          <a:ln>
            <a:noFill/>
          </a:ln>
        </p:spPr>
        <p:txBody>
          <a:bodyPr anchorCtr="0" anchor="t" bIns="0" lIns="0" spcFirstLastPara="1" rIns="0" wrap="square" tIns="0">
            <a:noAutofit/>
          </a:bodyPr>
          <a:lstStyle/>
          <a:p>
            <a:pPr indent="-176530" lvl="0" marL="182880" marR="0" rtl="0" algn="l">
              <a:lnSpc>
                <a:spcPct val="140000"/>
              </a:lnSpc>
              <a:spcBef>
                <a:spcPts val="0"/>
              </a:spcBef>
              <a:spcAft>
                <a:spcPts val="0"/>
              </a:spcAft>
              <a:buClr>
                <a:srgbClr val="3A4750"/>
              </a:buClr>
              <a:buSzPts val="1400"/>
              <a:buFont typeface="IBM Plex Sans"/>
              <a:buChar char="•"/>
            </a:pPr>
            <a:r>
              <a:rPr lang="en-US">
                <a:solidFill>
                  <a:srgbClr val="3A4750"/>
                </a:solidFill>
                <a:latin typeface="IBM Plex Sans"/>
                <a:ea typeface="IBM Plex Sans"/>
                <a:cs typeface="IBM Plex Sans"/>
                <a:sym typeface="IBM Plex Sans"/>
              </a:rPr>
              <a:t>A hospital suddenly sends a rush of stroke consults, just as doctors end their shift.</a:t>
            </a:r>
            <a:endParaRPr>
              <a:solidFill>
                <a:schemeClr val="dk1"/>
              </a:solidFill>
              <a:latin typeface="IBM Plex Sans"/>
              <a:ea typeface="IBM Plex Sans"/>
              <a:cs typeface="IBM Plex Sans"/>
              <a:sym typeface="IBM Plex Sans"/>
            </a:endParaRPr>
          </a:p>
          <a:p>
            <a:pPr indent="-176530" lvl="0" marL="182880" marR="0" rtl="0" algn="l">
              <a:lnSpc>
                <a:spcPct val="140000"/>
              </a:lnSpc>
              <a:spcBef>
                <a:spcPts val="0"/>
              </a:spcBef>
              <a:spcAft>
                <a:spcPts val="0"/>
              </a:spcAft>
              <a:buClr>
                <a:srgbClr val="3A4750"/>
              </a:buClr>
              <a:buSzPts val="1400"/>
              <a:buFont typeface="IBM Plex Sans"/>
              <a:buChar char="•"/>
            </a:pPr>
            <a:r>
              <a:rPr lang="en-US">
                <a:solidFill>
                  <a:srgbClr val="3A4750"/>
                </a:solidFill>
                <a:latin typeface="IBM Plex Sans"/>
                <a:ea typeface="IBM Plex Sans"/>
                <a:cs typeface="IBM Plex Sans"/>
                <a:sym typeface="IBM Plex Sans"/>
              </a:rPr>
              <a:t>Doctors may be free but not approved at that hospital, so the patient waits.</a:t>
            </a:r>
            <a:endParaRPr>
              <a:solidFill>
                <a:schemeClr val="dk1"/>
              </a:solidFill>
              <a:latin typeface="IBM Plex Sans"/>
              <a:ea typeface="IBM Plex Sans"/>
              <a:cs typeface="IBM Plex Sans"/>
              <a:sym typeface="IBM Plex Sans"/>
            </a:endParaRPr>
          </a:p>
          <a:p>
            <a:pPr indent="-176530" lvl="0" marL="182880" marR="0" rtl="0" algn="l">
              <a:lnSpc>
                <a:spcPct val="140000"/>
              </a:lnSpc>
              <a:spcBef>
                <a:spcPts val="0"/>
              </a:spcBef>
              <a:spcAft>
                <a:spcPts val="0"/>
              </a:spcAft>
              <a:buClr>
                <a:srgbClr val="3A4750"/>
              </a:buClr>
              <a:buSzPts val="1400"/>
              <a:buFont typeface="IBM Plex Sans"/>
              <a:buChar char="•"/>
            </a:pPr>
            <a:r>
              <a:rPr lang="en-US">
                <a:solidFill>
                  <a:srgbClr val="3A4750"/>
                </a:solidFill>
                <a:latin typeface="IBM Plex Sans"/>
                <a:ea typeface="IBM Plex Sans"/>
                <a:cs typeface="IBM Plex Sans"/>
                <a:sym typeface="IBM Plex Sans"/>
              </a:rPr>
              <a:t>Today someone has to notice, work out who can help by hand, and phone them.</a:t>
            </a:r>
            <a:endParaRPr>
              <a:solidFill>
                <a:schemeClr val="dk1"/>
              </a:solidFill>
              <a:latin typeface="IBM Plex Sans"/>
              <a:ea typeface="IBM Plex Sans"/>
              <a:cs typeface="IBM Plex Sans"/>
              <a:sym typeface="IBM Plex Sans"/>
            </a:endParaRPr>
          </a:p>
        </p:txBody>
      </p:sp>
      <p:sp>
        <p:nvSpPr>
          <p:cNvPr id="34" name="Google Shape;34;p5"/>
          <p:cNvSpPr/>
          <p:nvPr/>
        </p:nvSpPr>
        <p:spPr>
          <a:xfrm>
            <a:off x="6523820" y="2595686"/>
            <a:ext cx="4675800" cy="36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7A55"/>
              </a:buClr>
              <a:buSzPts val="2200"/>
              <a:buFont typeface="IBM Plex Sans"/>
              <a:buNone/>
            </a:pPr>
            <a:r>
              <a:t/>
            </a:r>
            <a:endParaRPr sz="2200">
              <a:solidFill>
                <a:schemeClr val="dk1"/>
              </a:solidFill>
              <a:latin typeface="IBM Plex Sans"/>
              <a:ea typeface="IBM Plex Sans"/>
              <a:cs typeface="IBM Plex Sans"/>
              <a:sym typeface="IBM Plex Sans"/>
            </a:endParaRPr>
          </a:p>
        </p:txBody>
      </p:sp>
      <p:pic>
        <p:nvPicPr>
          <p:cNvPr id="35" name="Google Shape;35;p5"/>
          <p:cNvPicPr preferRelativeResize="0"/>
          <p:nvPr/>
        </p:nvPicPr>
        <p:blipFill rotWithShape="1">
          <a:blip r:embed="rId3">
            <a:alphaModFix/>
          </a:blip>
          <a:srcRect b="0" l="0" r="0" t="0"/>
          <a:stretch/>
        </p:blipFill>
        <p:spPr>
          <a:xfrm>
            <a:off x="9852005" y="-17772"/>
            <a:ext cx="2216427" cy="1108213"/>
          </a:xfrm>
          <a:prstGeom prst="rect">
            <a:avLst/>
          </a:prstGeom>
          <a:noFill/>
          <a:ln>
            <a:noFill/>
          </a:ln>
        </p:spPr>
      </p:pic>
      <p:sp>
        <p:nvSpPr>
          <p:cNvPr id="36" name="Google Shape;36;p5"/>
          <p:cNvSpPr/>
          <p:nvPr/>
        </p:nvSpPr>
        <p:spPr>
          <a:xfrm>
            <a:off x="812775" y="4244200"/>
            <a:ext cx="5149800" cy="2444400"/>
          </a:xfrm>
          <a:prstGeom prst="roundRect">
            <a:avLst>
              <a:gd fmla="val 3382" name="adj"/>
            </a:avLst>
          </a:prstGeom>
          <a:solidFill>
            <a:srgbClr val="FFFFFF"/>
          </a:solidFill>
          <a:ln cap="flat" cmpd="sng" w="9525">
            <a:solidFill>
              <a:srgbClr val="E1E0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a:off x="1049770" y="4365161"/>
            <a:ext cx="4675800" cy="36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7A55"/>
              </a:buClr>
              <a:buSzPts val="2200"/>
              <a:buFont typeface="IBM Plex Sans"/>
              <a:buNone/>
            </a:pPr>
            <a:r>
              <a:rPr b="1" lang="en-US" sz="2200">
                <a:solidFill>
                  <a:srgbClr val="0F7A55"/>
                </a:solidFill>
                <a:latin typeface="IBM Plex Sans"/>
                <a:ea typeface="IBM Plex Sans"/>
                <a:cs typeface="IBM Plex Sans"/>
                <a:sym typeface="IBM Plex Sans"/>
              </a:rPr>
              <a:t>How CoverGap closes it</a:t>
            </a:r>
            <a:endParaRPr sz="2200">
              <a:solidFill>
                <a:schemeClr val="dk1"/>
              </a:solidFill>
              <a:latin typeface="IBM Plex Sans"/>
              <a:ea typeface="IBM Plex Sans"/>
              <a:cs typeface="IBM Plex Sans"/>
              <a:sym typeface="IBM Plex Sans"/>
            </a:endParaRPr>
          </a:p>
        </p:txBody>
      </p:sp>
      <p:sp>
        <p:nvSpPr>
          <p:cNvPr id="38" name="Google Shape;38;p5"/>
          <p:cNvSpPr/>
          <p:nvPr/>
        </p:nvSpPr>
        <p:spPr>
          <a:xfrm>
            <a:off x="1089065" y="4798692"/>
            <a:ext cx="4597200" cy="1625400"/>
          </a:xfrm>
          <a:prstGeom prst="rect">
            <a:avLst/>
          </a:prstGeom>
          <a:noFill/>
          <a:ln>
            <a:noFill/>
          </a:ln>
        </p:spPr>
        <p:txBody>
          <a:bodyPr anchorCtr="0" anchor="t" bIns="0" lIns="0" spcFirstLastPara="1" rIns="0" wrap="square" tIns="0">
            <a:noAutofit/>
          </a:bodyPr>
          <a:lstStyle/>
          <a:p>
            <a:pPr indent="-176530" lvl="0" marL="182880" marR="0" rtl="0" algn="l">
              <a:lnSpc>
                <a:spcPct val="140000"/>
              </a:lnSpc>
              <a:spcBef>
                <a:spcPts val="0"/>
              </a:spcBef>
              <a:spcAft>
                <a:spcPts val="0"/>
              </a:spcAft>
              <a:buClr>
                <a:srgbClr val="3A4750"/>
              </a:buClr>
              <a:buSzPts val="1400"/>
              <a:buFont typeface="IBM Plex Sans"/>
              <a:buChar char="•"/>
            </a:pPr>
            <a:r>
              <a:rPr b="1" lang="en-US">
                <a:solidFill>
                  <a:srgbClr val="3A4750"/>
                </a:solidFill>
                <a:latin typeface="IBM Plex Sans"/>
                <a:ea typeface="IBM Plex Sans"/>
                <a:cs typeface="IBM Plex Sans"/>
                <a:sym typeface="IBM Plex Sans"/>
              </a:rPr>
              <a:t>Minds the gap:</a:t>
            </a:r>
            <a:r>
              <a:rPr lang="en-US">
                <a:solidFill>
                  <a:srgbClr val="3A4750"/>
                </a:solidFill>
                <a:latin typeface="IBM Plex Sans"/>
                <a:ea typeface="IBM Plex Sans"/>
                <a:cs typeface="IBM Plex Sans"/>
                <a:sym typeface="IBM Plex Sans"/>
              </a:rPr>
              <a:t> spots hospitals short of a doctor now or in the next 2 hours.</a:t>
            </a:r>
            <a:endParaRPr>
              <a:solidFill>
                <a:schemeClr val="dk1"/>
              </a:solidFill>
              <a:latin typeface="IBM Plex Sans"/>
              <a:ea typeface="IBM Plex Sans"/>
              <a:cs typeface="IBM Plex Sans"/>
              <a:sym typeface="IBM Plex Sans"/>
            </a:endParaRPr>
          </a:p>
          <a:p>
            <a:pPr indent="-176530" lvl="0" marL="182880" marR="0" rtl="0" algn="l">
              <a:lnSpc>
                <a:spcPct val="140000"/>
              </a:lnSpc>
              <a:spcBef>
                <a:spcPts val="0"/>
              </a:spcBef>
              <a:spcAft>
                <a:spcPts val="0"/>
              </a:spcAft>
              <a:buClr>
                <a:srgbClr val="3A4750"/>
              </a:buClr>
              <a:buSzPts val="1400"/>
              <a:buFont typeface="IBM Plex Sans"/>
              <a:buChar char="•"/>
            </a:pPr>
            <a:r>
              <a:rPr b="1" lang="en-US">
                <a:solidFill>
                  <a:srgbClr val="3A4750"/>
                </a:solidFill>
                <a:latin typeface="IBM Plex Sans"/>
                <a:ea typeface="IBM Plex Sans"/>
                <a:cs typeface="IBM Plex Sans"/>
                <a:sym typeface="IBM Plex Sans"/>
              </a:rPr>
              <a:t>Picks the fix:</a:t>
            </a:r>
            <a:r>
              <a:rPr lang="en-US">
                <a:solidFill>
                  <a:srgbClr val="3A4750"/>
                </a:solidFill>
                <a:latin typeface="IBM Plex Sans"/>
                <a:ea typeface="IBM Plex Sans"/>
                <a:cs typeface="IBM Plex Sans"/>
                <a:sym typeface="IBM Plex Sans"/>
              </a:rPr>
              <a:t> the right off-duty doctor, with every safety rule checked.</a:t>
            </a:r>
            <a:endParaRPr>
              <a:solidFill>
                <a:schemeClr val="dk1"/>
              </a:solidFill>
              <a:latin typeface="IBM Plex Sans"/>
              <a:ea typeface="IBM Plex Sans"/>
              <a:cs typeface="IBM Plex Sans"/>
              <a:sym typeface="IBM Plex Sans"/>
            </a:endParaRPr>
          </a:p>
          <a:p>
            <a:pPr indent="-176530" lvl="0" marL="182880" marR="0" rtl="0" algn="l">
              <a:lnSpc>
                <a:spcPct val="140000"/>
              </a:lnSpc>
              <a:spcBef>
                <a:spcPts val="0"/>
              </a:spcBef>
              <a:spcAft>
                <a:spcPts val="0"/>
              </a:spcAft>
              <a:buClr>
                <a:srgbClr val="3A4750"/>
              </a:buClr>
              <a:buSzPts val="1400"/>
              <a:buFont typeface="IBM Plex Sans"/>
              <a:buChar char="•"/>
            </a:pPr>
            <a:r>
              <a:rPr b="1" lang="en-US">
                <a:solidFill>
                  <a:srgbClr val="3A4750"/>
                </a:solidFill>
                <a:latin typeface="IBM Plex Sans"/>
                <a:ea typeface="IBM Plex Sans"/>
                <a:cs typeface="IBM Plex Sans"/>
                <a:sym typeface="IBM Plex Sans"/>
              </a:rPr>
              <a:t>Closes it:</a:t>
            </a:r>
            <a:r>
              <a:rPr lang="en-US">
                <a:solidFill>
                  <a:srgbClr val="3A4750"/>
                </a:solidFill>
                <a:latin typeface="IBM Plex Sans"/>
                <a:ea typeface="IBM Plex Sans"/>
                <a:cs typeface="IBM Plex Sans"/>
                <a:sym typeface="IBM Plex Sans"/>
              </a:rPr>
              <a:t> a clinical lead approves, the doctor accepts on their phone.</a:t>
            </a:r>
            <a:endParaRPr>
              <a:solidFill>
                <a:schemeClr val="dk1"/>
              </a:solidFill>
              <a:latin typeface="IBM Plex Sans"/>
              <a:ea typeface="IBM Plex Sans"/>
              <a:cs typeface="IBM Plex Sans"/>
              <a:sym typeface="IBM Plex Sans"/>
            </a:endParaRPr>
          </a:p>
        </p:txBody>
      </p:sp>
      <p:pic>
        <p:nvPicPr>
          <p:cNvPr id="39" name="Google Shape;39;p5" title="WhatsApp Image 2026-10-11 at 11.06.00.jpeg"/>
          <p:cNvPicPr preferRelativeResize="0"/>
          <p:nvPr/>
        </p:nvPicPr>
        <p:blipFill>
          <a:blip r:embed="rId4">
            <a:alphaModFix/>
          </a:blip>
          <a:stretch>
            <a:fillRect/>
          </a:stretch>
        </p:blipFill>
        <p:spPr>
          <a:xfrm>
            <a:off x="6844550" y="1553771"/>
            <a:ext cx="5056176" cy="50561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8E2"/>
        </a:solidFill>
      </p:bgPr>
    </p:bg>
    <p:spTree>
      <p:nvGrpSpPr>
        <p:cNvPr id="44" name="Shape 44"/>
        <p:cNvGrpSpPr/>
        <p:nvPr/>
      </p:nvGrpSpPr>
      <p:grpSpPr>
        <a:xfrm>
          <a:off x="0" y="0"/>
          <a:ext cx="0" cy="0"/>
          <a:chOff x="0" y="0"/>
          <a:chExt cx="0" cy="0"/>
        </a:xfrm>
      </p:grpSpPr>
      <p:sp>
        <p:nvSpPr>
          <p:cNvPr id="45" name="Google Shape;45;p6"/>
          <p:cNvSpPr/>
          <p:nvPr/>
        </p:nvSpPr>
        <p:spPr>
          <a:xfrm>
            <a:off x="812767" y="896093"/>
            <a:ext cx="10883461"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870"/>
              </a:buClr>
              <a:buSzPts val="1200"/>
              <a:buFont typeface="IBM Plex Mono"/>
              <a:buNone/>
            </a:pPr>
            <a:r>
              <a:rPr b="1" lang="en-US" sz="1200">
                <a:solidFill>
                  <a:srgbClr val="5B6870"/>
                </a:solidFill>
                <a:latin typeface="IBM Plex Mono"/>
                <a:ea typeface="IBM Plex Mono"/>
                <a:cs typeface="IBM Plex Mono"/>
                <a:sym typeface="IBM Plex Mono"/>
              </a:rPr>
              <a:t>WHAT MAKES IT UNIQUE</a:t>
            </a:r>
            <a:endParaRPr sz="1200">
              <a:solidFill>
                <a:schemeClr val="dk1"/>
              </a:solidFill>
              <a:latin typeface="IBM Plex Sans"/>
              <a:ea typeface="IBM Plex Sans"/>
              <a:cs typeface="IBM Plex Sans"/>
              <a:sym typeface="IBM Plex Sans"/>
            </a:endParaRPr>
          </a:p>
        </p:txBody>
      </p:sp>
      <p:sp>
        <p:nvSpPr>
          <p:cNvPr id="46" name="Google Shape;46;p6"/>
          <p:cNvSpPr txBox="1"/>
          <p:nvPr>
            <p:ph type="title"/>
          </p:nvPr>
        </p:nvSpPr>
        <p:spPr>
          <a:xfrm>
            <a:off x="812767" y="1194060"/>
            <a:ext cx="10883461" cy="472436"/>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D2830"/>
              </a:buClr>
              <a:buSzPts val="3200"/>
              <a:buFont typeface="IBM Plex Sans"/>
              <a:buNone/>
            </a:pPr>
            <a:r>
              <a:rPr b="1" i="0" lang="en-US" sz="3200">
                <a:solidFill>
                  <a:srgbClr val="1D2830"/>
                </a:solidFill>
                <a:latin typeface="IBM Plex Sans"/>
                <a:ea typeface="IBM Plex Sans"/>
                <a:cs typeface="IBM Plex Sans"/>
                <a:sym typeface="IBM Plex Sans"/>
              </a:rPr>
              <a:t>Six things no live screen does today.</a:t>
            </a:r>
            <a:endParaRPr sz="3200"/>
          </a:p>
        </p:txBody>
      </p:sp>
      <p:sp>
        <p:nvSpPr>
          <p:cNvPr id="47" name="Google Shape;47;p6"/>
          <p:cNvSpPr/>
          <p:nvPr/>
        </p:nvSpPr>
        <p:spPr>
          <a:xfrm>
            <a:off x="812767" y="1879535"/>
            <a:ext cx="3403644" cy="1493408"/>
          </a:xfrm>
          <a:prstGeom prst="roundRect">
            <a:avLst>
              <a:gd fmla="val 765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 id="48" name="Google Shape;48;p6"/>
          <p:cNvPicPr preferRelativeResize="0"/>
          <p:nvPr/>
        </p:nvPicPr>
        <p:blipFill rotWithShape="1">
          <a:blip r:embed="rId3">
            <a:alphaModFix/>
          </a:blip>
          <a:srcRect b="0" l="0" r="0" t="0"/>
          <a:stretch/>
        </p:blipFill>
        <p:spPr>
          <a:xfrm>
            <a:off x="1041356" y="2108124"/>
            <a:ext cx="254000" cy="254000"/>
          </a:xfrm>
          <a:prstGeom prst="rect">
            <a:avLst/>
          </a:prstGeom>
          <a:noFill/>
          <a:ln>
            <a:noFill/>
          </a:ln>
        </p:spPr>
      </p:pic>
      <p:sp>
        <p:nvSpPr>
          <p:cNvPr id="49" name="Google Shape;49;p6"/>
          <p:cNvSpPr/>
          <p:nvPr/>
        </p:nvSpPr>
        <p:spPr>
          <a:xfrm>
            <a:off x="1396945" y="2113195"/>
            <a:ext cx="2172891" cy="26920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830"/>
              </a:buClr>
              <a:buSzPts val="1600"/>
              <a:buFont typeface="IBM Plex Sans"/>
              <a:buNone/>
            </a:pPr>
            <a:r>
              <a:rPr b="1" lang="en-US" sz="1600">
                <a:solidFill>
                  <a:srgbClr val="1D2830"/>
                </a:solidFill>
                <a:latin typeface="IBM Plex Sans"/>
                <a:ea typeface="IBM Plex Sans"/>
                <a:cs typeface="IBM Plex Sans"/>
                <a:sym typeface="IBM Plex Sans"/>
              </a:rPr>
              <a:t>Role-shaped views</a:t>
            </a:r>
            <a:endParaRPr sz="1600">
              <a:solidFill>
                <a:schemeClr val="dk1"/>
              </a:solidFill>
              <a:latin typeface="IBM Plex Sans"/>
              <a:ea typeface="IBM Plex Sans"/>
              <a:cs typeface="IBM Plex Sans"/>
              <a:sym typeface="IBM Plex Sans"/>
            </a:endParaRPr>
          </a:p>
        </p:txBody>
      </p:sp>
      <p:sp>
        <p:nvSpPr>
          <p:cNvPr id="50" name="Google Shape;50;p6"/>
          <p:cNvSpPr/>
          <p:nvPr/>
        </p:nvSpPr>
        <p:spPr>
          <a:xfrm>
            <a:off x="1041356" y="2450979"/>
            <a:ext cx="3034860" cy="71877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A4750"/>
              </a:buClr>
              <a:buSzPts val="1300"/>
              <a:buFont typeface="IBM Plex Sans"/>
              <a:buNone/>
            </a:pPr>
            <a:r>
              <a:rPr lang="en-US" sz="1300">
                <a:solidFill>
                  <a:srgbClr val="3A4750"/>
                </a:solidFill>
                <a:latin typeface="IBM Plex Sans"/>
                <a:ea typeface="IBM Plex Sans"/>
                <a:cs typeface="IBM Plex Sans"/>
                <a:sym typeface="IBM Plex Sans"/>
              </a:rPr>
              <a:t>Coordinator, clinical lead and doctor each see only what they need, ranked for them.</a:t>
            </a:r>
            <a:endParaRPr sz="1300">
              <a:solidFill>
                <a:schemeClr val="dk1"/>
              </a:solidFill>
              <a:latin typeface="IBM Plex Sans"/>
              <a:ea typeface="IBM Plex Sans"/>
              <a:cs typeface="IBM Plex Sans"/>
              <a:sym typeface="IBM Plex Sans"/>
            </a:endParaRPr>
          </a:p>
        </p:txBody>
      </p:sp>
      <p:sp>
        <p:nvSpPr>
          <p:cNvPr id="51" name="Google Shape;51;p6"/>
          <p:cNvSpPr/>
          <p:nvPr/>
        </p:nvSpPr>
        <p:spPr>
          <a:xfrm>
            <a:off x="4394178" y="1879535"/>
            <a:ext cx="3403644" cy="1493408"/>
          </a:xfrm>
          <a:prstGeom prst="roundRect">
            <a:avLst>
              <a:gd fmla="val 765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rt" id="52" name="Google Shape;52;p6"/>
          <p:cNvPicPr preferRelativeResize="0"/>
          <p:nvPr/>
        </p:nvPicPr>
        <p:blipFill rotWithShape="1">
          <a:blip r:embed="rId4">
            <a:alphaModFix/>
          </a:blip>
          <a:srcRect b="0" l="0" r="0" t="0"/>
          <a:stretch/>
        </p:blipFill>
        <p:spPr>
          <a:xfrm>
            <a:off x="4622767" y="2108124"/>
            <a:ext cx="254000" cy="254000"/>
          </a:xfrm>
          <a:prstGeom prst="rect">
            <a:avLst/>
          </a:prstGeom>
          <a:noFill/>
          <a:ln>
            <a:noFill/>
          </a:ln>
        </p:spPr>
      </p:pic>
      <p:sp>
        <p:nvSpPr>
          <p:cNvPr id="53" name="Google Shape;53;p6"/>
          <p:cNvSpPr/>
          <p:nvPr/>
        </p:nvSpPr>
        <p:spPr>
          <a:xfrm>
            <a:off x="4978356" y="2113195"/>
            <a:ext cx="2294334" cy="26920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830"/>
              </a:buClr>
              <a:buSzPts val="1600"/>
              <a:buFont typeface="IBM Plex Sans"/>
              <a:buNone/>
            </a:pPr>
            <a:r>
              <a:rPr b="1" lang="en-US" sz="1600">
                <a:solidFill>
                  <a:srgbClr val="1D2830"/>
                </a:solidFill>
                <a:latin typeface="IBM Plex Sans"/>
                <a:ea typeface="IBM Plex Sans"/>
                <a:cs typeface="IBM Plex Sans"/>
                <a:sym typeface="IBM Plex Sans"/>
              </a:rPr>
              <a:t>Options side by side</a:t>
            </a:r>
            <a:endParaRPr sz="1600">
              <a:solidFill>
                <a:schemeClr val="dk1"/>
              </a:solidFill>
              <a:latin typeface="IBM Plex Sans"/>
              <a:ea typeface="IBM Plex Sans"/>
              <a:cs typeface="IBM Plex Sans"/>
              <a:sym typeface="IBM Plex Sans"/>
            </a:endParaRPr>
          </a:p>
        </p:txBody>
      </p:sp>
      <p:sp>
        <p:nvSpPr>
          <p:cNvPr id="54" name="Google Shape;54;p6"/>
          <p:cNvSpPr/>
          <p:nvPr/>
        </p:nvSpPr>
        <p:spPr>
          <a:xfrm>
            <a:off x="4622767" y="2450979"/>
            <a:ext cx="3034860" cy="487649"/>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A4750"/>
              </a:buClr>
              <a:buSzPts val="1300"/>
              <a:buFont typeface="IBM Plex Sans"/>
              <a:buNone/>
            </a:pPr>
            <a:r>
              <a:rPr lang="en-US" sz="1300">
                <a:solidFill>
                  <a:srgbClr val="3A4750"/>
                </a:solidFill>
                <a:latin typeface="IBM Plex Sans"/>
                <a:ea typeface="IBM Plex Sans"/>
                <a:cs typeface="IBM Plex Sans"/>
                <a:sym typeface="IBM Plex Sans"/>
              </a:rPr>
              <a:t>Each plan shows its effect on coverage and on the joining doctor's workload.</a:t>
            </a:r>
            <a:endParaRPr sz="1300">
              <a:solidFill>
                <a:schemeClr val="dk1"/>
              </a:solidFill>
              <a:latin typeface="IBM Plex Sans"/>
              <a:ea typeface="IBM Plex Sans"/>
              <a:cs typeface="IBM Plex Sans"/>
              <a:sym typeface="IBM Plex Sans"/>
            </a:endParaRPr>
          </a:p>
        </p:txBody>
      </p:sp>
      <p:sp>
        <p:nvSpPr>
          <p:cNvPr id="55" name="Google Shape;55;p6"/>
          <p:cNvSpPr/>
          <p:nvPr/>
        </p:nvSpPr>
        <p:spPr>
          <a:xfrm>
            <a:off x="7975589" y="1879535"/>
            <a:ext cx="3403644" cy="1493408"/>
          </a:xfrm>
          <a:prstGeom prst="roundRect">
            <a:avLst>
              <a:gd fmla="val 765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Verified" id="56" name="Google Shape;56;p6"/>
          <p:cNvPicPr preferRelativeResize="0"/>
          <p:nvPr/>
        </p:nvPicPr>
        <p:blipFill rotWithShape="1">
          <a:blip r:embed="rId5">
            <a:alphaModFix/>
          </a:blip>
          <a:srcRect b="0" l="0" r="0" t="0"/>
          <a:stretch/>
        </p:blipFill>
        <p:spPr>
          <a:xfrm>
            <a:off x="8204178" y="2108124"/>
            <a:ext cx="254000" cy="254000"/>
          </a:xfrm>
          <a:prstGeom prst="rect">
            <a:avLst/>
          </a:prstGeom>
          <a:noFill/>
          <a:ln>
            <a:noFill/>
          </a:ln>
        </p:spPr>
      </p:pic>
      <p:sp>
        <p:nvSpPr>
          <p:cNvPr id="57" name="Google Shape;57;p6"/>
          <p:cNvSpPr/>
          <p:nvPr/>
        </p:nvSpPr>
        <p:spPr>
          <a:xfrm>
            <a:off x="8559767" y="2113195"/>
            <a:ext cx="2819466" cy="26920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830"/>
              </a:buClr>
              <a:buSzPts val="1600"/>
              <a:buFont typeface="IBM Plex Sans"/>
              <a:buNone/>
            </a:pPr>
            <a:r>
              <a:rPr b="1" lang="en-US" sz="1600">
                <a:solidFill>
                  <a:srgbClr val="1D2830"/>
                </a:solidFill>
                <a:latin typeface="IBM Plex Sans"/>
                <a:ea typeface="IBM Plex Sans"/>
                <a:cs typeface="IBM Plex Sans"/>
                <a:sym typeface="IBM Plex Sans"/>
              </a:rPr>
              <a:t>Reasoning for yes and no</a:t>
            </a:r>
            <a:endParaRPr sz="1600">
              <a:solidFill>
                <a:schemeClr val="dk1"/>
              </a:solidFill>
              <a:latin typeface="IBM Plex Sans"/>
              <a:ea typeface="IBM Plex Sans"/>
              <a:cs typeface="IBM Plex Sans"/>
              <a:sym typeface="IBM Plex Sans"/>
            </a:endParaRPr>
          </a:p>
        </p:txBody>
      </p:sp>
      <p:sp>
        <p:nvSpPr>
          <p:cNvPr id="58" name="Google Shape;58;p6"/>
          <p:cNvSpPr/>
          <p:nvPr/>
        </p:nvSpPr>
        <p:spPr>
          <a:xfrm>
            <a:off x="8204178" y="2450979"/>
            <a:ext cx="3034860" cy="71877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A4750"/>
              </a:buClr>
              <a:buSzPts val="1300"/>
              <a:buFont typeface="IBM Plex Sans"/>
              <a:buNone/>
            </a:pPr>
            <a:r>
              <a:rPr lang="en-US" sz="1300">
                <a:solidFill>
                  <a:srgbClr val="3A4750"/>
                </a:solidFill>
                <a:latin typeface="IBM Plex Sans"/>
                <a:ea typeface="IBM Plex Sans"/>
                <a:cs typeface="IBM Plex Sans"/>
                <a:sym typeface="IBM Plex Sans"/>
              </a:rPr>
              <a:t>Every rule passed or failed, plus what happens if the plan is approved or rejected.</a:t>
            </a:r>
            <a:endParaRPr sz="1300">
              <a:solidFill>
                <a:schemeClr val="dk1"/>
              </a:solidFill>
              <a:latin typeface="IBM Plex Sans"/>
              <a:ea typeface="IBM Plex Sans"/>
              <a:cs typeface="IBM Plex Sans"/>
              <a:sym typeface="IBM Plex Sans"/>
            </a:endParaRPr>
          </a:p>
        </p:txBody>
      </p:sp>
      <p:sp>
        <p:nvSpPr>
          <p:cNvPr id="59" name="Google Shape;59;p6"/>
          <p:cNvSpPr/>
          <p:nvPr/>
        </p:nvSpPr>
        <p:spPr>
          <a:xfrm>
            <a:off x="812767" y="3550709"/>
            <a:ext cx="3403644" cy="1493408"/>
          </a:xfrm>
          <a:prstGeom prst="roundRect">
            <a:avLst>
              <a:gd fmla="val 765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ctivity" id="60" name="Google Shape;60;p6"/>
          <p:cNvPicPr preferRelativeResize="0"/>
          <p:nvPr/>
        </p:nvPicPr>
        <p:blipFill rotWithShape="1">
          <a:blip r:embed="rId6">
            <a:alphaModFix/>
          </a:blip>
          <a:srcRect b="0" l="0" r="0" t="0"/>
          <a:stretch/>
        </p:blipFill>
        <p:spPr>
          <a:xfrm>
            <a:off x="1041356" y="3779298"/>
            <a:ext cx="254000" cy="254000"/>
          </a:xfrm>
          <a:prstGeom prst="rect">
            <a:avLst/>
          </a:prstGeom>
          <a:noFill/>
          <a:ln>
            <a:noFill/>
          </a:ln>
        </p:spPr>
      </p:pic>
      <p:sp>
        <p:nvSpPr>
          <p:cNvPr id="61" name="Google Shape;61;p6"/>
          <p:cNvSpPr/>
          <p:nvPr/>
        </p:nvSpPr>
        <p:spPr>
          <a:xfrm>
            <a:off x="1396945" y="3784369"/>
            <a:ext cx="2199481" cy="26920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830"/>
              </a:buClr>
              <a:buSzPts val="1600"/>
              <a:buFont typeface="IBM Plex Sans"/>
              <a:buNone/>
            </a:pPr>
            <a:r>
              <a:rPr b="1" lang="en-US" sz="1600">
                <a:solidFill>
                  <a:srgbClr val="1D2830"/>
                </a:solidFill>
                <a:latin typeface="IBM Plex Sans"/>
                <a:ea typeface="IBM Plex Sans"/>
                <a:cs typeface="IBM Plex Sans"/>
                <a:sym typeface="IBM Plex Sans"/>
              </a:rPr>
              <a:t>No swamped joiner</a:t>
            </a:r>
            <a:endParaRPr sz="1600">
              <a:solidFill>
                <a:schemeClr val="dk1"/>
              </a:solidFill>
              <a:latin typeface="IBM Plex Sans"/>
              <a:ea typeface="IBM Plex Sans"/>
              <a:cs typeface="IBM Plex Sans"/>
              <a:sym typeface="IBM Plex Sans"/>
            </a:endParaRPr>
          </a:p>
        </p:txBody>
      </p:sp>
      <p:sp>
        <p:nvSpPr>
          <p:cNvPr id="62" name="Google Shape;62;p6"/>
          <p:cNvSpPr/>
          <p:nvPr/>
        </p:nvSpPr>
        <p:spPr>
          <a:xfrm>
            <a:off x="1041356" y="4122155"/>
            <a:ext cx="3034860" cy="487649"/>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A4750"/>
              </a:buClr>
              <a:buSzPts val="1300"/>
              <a:buFont typeface="IBM Plex Sans"/>
              <a:buNone/>
            </a:pPr>
            <a:r>
              <a:rPr lang="en-US" sz="1300">
                <a:solidFill>
                  <a:srgbClr val="3A4750"/>
                </a:solidFill>
                <a:latin typeface="IBM Plex Sans"/>
                <a:ea typeface="IBM Plex Sans"/>
                <a:cs typeface="IBM Plex Sans"/>
                <a:sym typeface="IBM Plex Sans"/>
              </a:rPr>
              <a:t>A routing simulator keeps the new doctor on the hospitals that need help.</a:t>
            </a:r>
            <a:endParaRPr sz="1300">
              <a:solidFill>
                <a:schemeClr val="dk1"/>
              </a:solidFill>
              <a:latin typeface="IBM Plex Sans"/>
              <a:ea typeface="IBM Plex Sans"/>
              <a:cs typeface="IBM Plex Sans"/>
              <a:sym typeface="IBM Plex Sans"/>
            </a:endParaRPr>
          </a:p>
        </p:txBody>
      </p:sp>
      <p:sp>
        <p:nvSpPr>
          <p:cNvPr id="63" name="Google Shape;63;p6"/>
          <p:cNvSpPr/>
          <p:nvPr/>
        </p:nvSpPr>
        <p:spPr>
          <a:xfrm>
            <a:off x="4394178" y="3550709"/>
            <a:ext cx="3403644" cy="1493408"/>
          </a:xfrm>
          <a:prstGeom prst="roundRect">
            <a:avLst>
              <a:gd fmla="val 765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t" id="64" name="Google Shape;64;p6"/>
          <p:cNvPicPr preferRelativeResize="0"/>
          <p:nvPr/>
        </p:nvPicPr>
        <p:blipFill rotWithShape="1">
          <a:blip r:embed="rId7">
            <a:alphaModFix/>
          </a:blip>
          <a:srcRect b="0" l="0" r="0" t="0"/>
          <a:stretch/>
        </p:blipFill>
        <p:spPr>
          <a:xfrm>
            <a:off x="4622767" y="3779298"/>
            <a:ext cx="254000" cy="254000"/>
          </a:xfrm>
          <a:prstGeom prst="rect">
            <a:avLst/>
          </a:prstGeom>
          <a:noFill/>
          <a:ln>
            <a:noFill/>
          </a:ln>
        </p:spPr>
      </p:pic>
      <p:sp>
        <p:nvSpPr>
          <p:cNvPr id="65" name="Google Shape;65;p6"/>
          <p:cNvSpPr/>
          <p:nvPr/>
        </p:nvSpPr>
        <p:spPr>
          <a:xfrm>
            <a:off x="4978356" y="3784369"/>
            <a:ext cx="1899576" cy="26920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830"/>
              </a:buClr>
              <a:buSzPts val="1600"/>
              <a:buFont typeface="IBM Plex Sans"/>
              <a:buNone/>
            </a:pPr>
            <a:r>
              <a:rPr b="1" lang="en-US" sz="1600">
                <a:solidFill>
                  <a:srgbClr val="1D2830"/>
                </a:solidFill>
                <a:latin typeface="IBM Plex Sans"/>
                <a:ea typeface="IBM Plex Sans"/>
                <a:cs typeface="IBM Plex Sans"/>
                <a:sym typeface="IBM Plex Sans"/>
              </a:rPr>
              <a:t>AI follow-up call</a:t>
            </a:r>
            <a:endParaRPr sz="1600">
              <a:solidFill>
                <a:schemeClr val="dk1"/>
              </a:solidFill>
              <a:latin typeface="IBM Plex Sans"/>
              <a:ea typeface="IBM Plex Sans"/>
              <a:cs typeface="IBM Plex Sans"/>
              <a:sym typeface="IBM Plex Sans"/>
            </a:endParaRPr>
          </a:p>
        </p:txBody>
      </p:sp>
      <p:sp>
        <p:nvSpPr>
          <p:cNvPr id="66" name="Google Shape;66;p6"/>
          <p:cNvSpPr/>
          <p:nvPr/>
        </p:nvSpPr>
        <p:spPr>
          <a:xfrm>
            <a:off x="4622767" y="4122155"/>
            <a:ext cx="3034860" cy="487649"/>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A4750"/>
              </a:buClr>
              <a:buSzPts val="1300"/>
              <a:buFont typeface="IBM Plex Sans"/>
              <a:buNone/>
            </a:pPr>
            <a:r>
              <a:rPr lang="en-US" sz="1300">
                <a:solidFill>
                  <a:srgbClr val="3A4750"/>
                </a:solidFill>
                <a:latin typeface="IBM Plex Sans"/>
                <a:ea typeface="IBM Plex Sans"/>
                <a:cs typeface="IBM Plex Sans"/>
                <a:sym typeface="IBM Plex Sans"/>
              </a:rPr>
              <a:t>No reply in a minute? An AI assistant calls and reads the approved offer.</a:t>
            </a:r>
            <a:endParaRPr sz="1300">
              <a:solidFill>
                <a:schemeClr val="dk1"/>
              </a:solidFill>
              <a:latin typeface="IBM Plex Sans"/>
              <a:ea typeface="IBM Plex Sans"/>
              <a:cs typeface="IBM Plex Sans"/>
              <a:sym typeface="IBM Plex Sans"/>
            </a:endParaRPr>
          </a:p>
        </p:txBody>
      </p:sp>
      <p:sp>
        <p:nvSpPr>
          <p:cNvPr id="67" name="Google Shape;67;p6"/>
          <p:cNvSpPr/>
          <p:nvPr/>
        </p:nvSpPr>
        <p:spPr>
          <a:xfrm>
            <a:off x="7975589" y="3550709"/>
            <a:ext cx="3403644" cy="1493408"/>
          </a:xfrm>
          <a:prstGeom prst="roundRect">
            <a:avLst>
              <a:gd fmla="val 765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68" name="Google Shape;68;p6"/>
          <p:cNvPicPr preferRelativeResize="0"/>
          <p:nvPr/>
        </p:nvPicPr>
        <p:blipFill rotWithShape="1">
          <a:blip r:embed="rId8">
            <a:alphaModFix/>
          </a:blip>
          <a:srcRect b="0" l="0" r="0" t="0"/>
          <a:stretch/>
        </p:blipFill>
        <p:spPr>
          <a:xfrm>
            <a:off x="8204178" y="3779298"/>
            <a:ext cx="254000" cy="254000"/>
          </a:xfrm>
          <a:prstGeom prst="rect">
            <a:avLst/>
          </a:prstGeom>
          <a:noFill/>
          <a:ln>
            <a:noFill/>
          </a:ln>
        </p:spPr>
      </p:pic>
      <p:sp>
        <p:nvSpPr>
          <p:cNvPr id="69" name="Google Shape;69;p6"/>
          <p:cNvSpPr/>
          <p:nvPr/>
        </p:nvSpPr>
        <p:spPr>
          <a:xfrm>
            <a:off x="8559767" y="3784369"/>
            <a:ext cx="2819466" cy="26920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830"/>
              </a:buClr>
              <a:buSzPts val="1600"/>
              <a:buFont typeface="IBM Plex Sans"/>
              <a:buNone/>
            </a:pPr>
            <a:r>
              <a:rPr b="1" lang="en-US" sz="1600">
                <a:solidFill>
                  <a:srgbClr val="1D2830"/>
                </a:solidFill>
                <a:latin typeface="IBM Plex Sans"/>
                <a:ea typeface="IBM Plex Sans"/>
                <a:cs typeface="IBM Plex Sans"/>
                <a:sym typeface="IBM Plex Sans"/>
              </a:rPr>
              <a:t>Trusts signals, not status</a:t>
            </a:r>
            <a:endParaRPr sz="1600">
              <a:solidFill>
                <a:schemeClr val="dk1"/>
              </a:solidFill>
              <a:latin typeface="IBM Plex Sans"/>
              <a:ea typeface="IBM Plex Sans"/>
              <a:cs typeface="IBM Plex Sans"/>
              <a:sym typeface="IBM Plex Sans"/>
            </a:endParaRPr>
          </a:p>
        </p:txBody>
      </p:sp>
      <p:sp>
        <p:nvSpPr>
          <p:cNvPr id="70" name="Google Shape;70;p6"/>
          <p:cNvSpPr/>
          <p:nvPr/>
        </p:nvSpPr>
        <p:spPr>
          <a:xfrm>
            <a:off x="8204178" y="4122155"/>
            <a:ext cx="3034860" cy="71877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A4750"/>
              </a:buClr>
              <a:buSzPts val="1300"/>
              <a:buFont typeface="IBM Plex Sans"/>
              <a:buNone/>
            </a:pPr>
            <a:r>
              <a:rPr lang="en-US" sz="1300">
                <a:solidFill>
                  <a:srgbClr val="3A4750"/>
                </a:solidFill>
                <a:latin typeface="IBM Plex Sans"/>
                <a:ea typeface="IBM Plex Sans"/>
                <a:cs typeface="IBM Plex Sans"/>
                <a:sym typeface="IBM Plex Sans"/>
              </a:rPr>
              <a:t>Late, duplicate and conflicting records sorted out. Matches Sevaro's snapshot 146/146.</a:t>
            </a:r>
            <a:endParaRPr sz="1300">
              <a:solidFill>
                <a:schemeClr val="dk1"/>
              </a:solidFill>
              <a:latin typeface="IBM Plex Sans"/>
              <a:ea typeface="IBM Plex Sans"/>
              <a:cs typeface="IBM Plex Sans"/>
              <a:sym typeface="IBM Plex Sans"/>
            </a:endParaRPr>
          </a:p>
        </p:txBody>
      </p:sp>
      <p:pic>
        <p:nvPicPr>
          <p:cNvPr id="71" name="Google Shape;71;p6"/>
          <p:cNvPicPr preferRelativeResize="0"/>
          <p:nvPr/>
        </p:nvPicPr>
        <p:blipFill rotWithShape="1">
          <a:blip r:embed="rId9">
            <a:alphaModFix/>
          </a:blip>
          <a:srcRect b="0" l="0" r="0" t="0"/>
          <a:stretch/>
        </p:blipFill>
        <p:spPr>
          <a:xfrm>
            <a:off x="9830308" y="26655"/>
            <a:ext cx="2216426" cy="1108213"/>
          </a:xfrm>
          <a:prstGeom prst="rect">
            <a:avLst/>
          </a:prstGeom>
          <a:noFill/>
          <a:ln>
            <a:noFill/>
          </a:ln>
        </p:spPr>
      </p:pic>
      <p:sp>
        <p:nvSpPr>
          <p:cNvPr id="72" name="Google Shape;72;p6"/>
          <p:cNvSpPr/>
          <p:nvPr/>
        </p:nvSpPr>
        <p:spPr>
          <a:xfrm>
            <a:off x="812800" y="5704850"/>
            <a:ext cx="10566300" cy="379800"/>
          </a:xfrm>
          <a:prstGeom prst="roundRect">
            <a:avLst>
              <a:gd fmla="val 50000" name="adj"/>
            </a:avLst>
          </a:prstGeom>
          <a:solidFill>
            <a:srgbClr val="2A3843"/>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4F4F1"/>
              </a:buClr>
              <a:buSzPts val="1200"/>
              <a:buFont typeface="IBM Plex Sans"/>
              <a:buNone/>
            </a:pPr>
            <a:r>
              <a:rPr lang="en-US" sz="1200">
                <a:solidFill>
                  <a:srgbClr val="F4F4F1"/>
                </a:solidFill>
                <a:latin typeface="IBM Plex Sans"/>
                <a:ea typeface="IBM Plex Sans"/>
                <a:cs typeface="IBM Plex Sans"/>
                <a:sym typeface="IBM Plex Sans"/>
              </a:rPr>
              <a:t>Note: For detailed version of the unique features, please refer to the product demo video</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1"/>
        </a:solidFill>
      </p:bgPr>
    </p:bg>
    <p:spTree>
      <p:nvGrpSpPr>
        <p:cNvPr id="77" name="Shape 77"/>
        <p:cNvGrpSpPr/>
        <p:nvPr/>
      </p:nvGrpSpPr>
      <p:grpSpPr>
        <a:xfrm>
          <a:off x="0" y="0"/>
          <a:ext cx="0" cy="0"/>
          <a:chOff x="0" y="0"/>
          <a:chExt cx="0" cy="0"/>
        </a:xfrm>
      </p:grpSpPr>
      <p:pic>
        <p:nvPicPr>
          <p:cNvPr id="78" name="Google Shape;78;p7" title="CoverGap-flowchart-logos (1).png"/>
          <p:cNvPicPr preferRelativeResize="0"/>
          <p:nvPr/>
        </p:nvPicPr>
        <p:blipFill>
          <a:blip r:embed="rId3">
            <a:alphaModFix/>
          </a:blip>
          <a:stretch>
            <a:fillRect/>
          </a:stretch>
        </p:blipFill>
        <p:spPr>
          <a:xfrm>
            <a:off x="0" y="2"/>
            <a:ext cx="12088223" cy="6799625"/>
          </a:xfrm>
          <a:prstGeom prst="rect">
            <a:avLst/>
          </a:prstGeom>
          <a:noFill/>
          <a:ln>
            <a:noFill/>
          </a:ln>
        </p:spPr>
      </p:pic>
      <p:sp>
        <p:nvSpPr>
          <p:cNvPr id="79" name="Google Shape;79;p7"/>
          <p:cNvSpPr/>
          <p:nvPr/>
        </p:nvSpPr>
        <p:spPr>
          <a:xfrm>
            <a:off x="308113" y="52830"/>
            <a:ext cx="2604000" cy="792000"/>
          </a:xfrm>
          <a:prstGeom prst="rect">
            <a:avLst/>
          </a:prstGeom>
          <a:solidFill>
            <a:srgbClr val="F5F6F3"/>
          </a:solidFill>
          <a:ln cap="flat" cmpd="sng" w="12700">
            <a:solidFill>
              <a:srgbClr val="F5F6F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IBM Plex Sans"/>
              <a:ea typeface="IBM Plex Sans"/>
              <a:cs typeface="IBM Plex Sans"/>
              <a:sym typeface="IBM Plex Sans"/>
            </a:endParaRPr>
          </a:p>
        </p:txBody>
      </p:sp>
      <p:sp>
        <p:nvSpPr>
          <p:cNvPr id="80" name="Google Shape;80;p7"/>
          <p:cNvSpPr/>
          <p:nvPr/>
        </p:nvSpPr>
        <p:spPr>
          <a:xfrm>
            <a:off x="308125" y="146725"/>
            <a:ext cx="2466300" cy="604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Sans"/>
              <a:ea typeface="IBM Plex Sans"/>
              <a:cs typeface="IBM Plex Sans"/>
              <a:sym typeface="IBM Plex Sans"/>
            </a:endParaRPr>
          </a:p>
        </p:txBody>
      </p:sp>
      <p:pic>
        <p:nvPicPr>
          <p:cNvPr id="81" name="Google Shape;81;p7"/>
          <p:cNvPicPr preferRelativeResize="0"/>
          <p:nvPr/>
        </p:nvPicPr>
        <p:blipFill rotWithShape="1">
          <a:blip r:embed="rId4">
            <a:alphaModFix/>
          </a:blip>
          <a:srcRect b="0" l="0" r="0" t="0"/>
          <a:stretch/>
        </p:blipFill>
        <p:spPr>
          <a:xfrm>
            <a:off x="244402" y="52826"/>
            <a:ext cx="1583982" cy="792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3D56"/>
        </a:solidFill>
      </p:bgPr>
    </p:bg>
    <p:spTree>
      <p:nvGrpSpPr>
        <p:cNvPr id="86" name="Shape 86"/>
        <p:cNvGrpSpPr/>
        <p:nvPr/>
      </p:nvGrpSpPr>
      <p:grpSpPr>
        <a:xfrm>
          <a:off x="0" y="0"/>
          <a:ext cx="0" cy="0"/>
          <a:chOff x="0" y="0"/>
          <a:chExt cx="0" cy="0"/>
        </a:xfrm>
      </p:grpSpPr>
      <p:sp>
        <p:nvSpPr>
          <p:cNvPr id="87" name="Google Shape;87;p8"/>
          <p:cNvSpPr txBox="1"/>
          <p:nvPr>
            <p:ph type="title"/>
          </p:nvPr>
        </p:nvSpPr>
        <p:spPr>
          <a:xfrm>
            <a:off x="609589" y="688340"/>
            <a:ext cx="11302007" cy="41599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4F4F1"/>
              </a:buClr>
              <a:buSzPts val="2800"/>
              <a:buFont typeface="IBM Plex Sans"/>
              <a:buNone/>
            </a:pPr>
            <a:r>
              <a:rPr b="1" i="0" lang="en-US" sz="2800">
                <a:solidFill>
                  <a:srgbClr val="F4F4F1"/>
                </a:solidFill>
                <a:latin typeface="IBM Plex Sans"/>
                <a:ea typeface="IBM Plex Sans"/>
                <a:cs typeface="IBM Plex Sans"/>
                <a:sym typeface="IBM Plex Sans"/>
              </a:rPr>
              <a:t>CoverGap in action</a:t>
            </a:r>
            <a:endParaRPr sz="2800"/>
          </a:p>
        </p:txBody>
      </p:sp>
      <p:pic>
        <p:nvPicPr>
          <p:cNvPr descr="Coordinator screen: 'What to do now' card for the Oak Valley stroke with Plan A and Plan B" id="88" name="Google Shape;88;p8"/>
          <p:cNvPicPr preferRelativeResize="0"/>
          <p:nvPr/>
        </p:nvPicPr>
        <p:blipFill rotWithShape="1">
          <a:blip r:embed="rId3">
            <a:alphaModFix/>
          </a:blip>
          <a:srcRect b="-14" l="0" r="0" t="-14"/>
          <a:stretch/>
        </p:blipFill>
        <p:spPr>
          <a:xfrm>
            <a:off x="609589" y="1177950"/>
            <a:ext cx="3663928" cy="2095500"/>
          </a:xfrm>
          <a:prstGeom prst="roundRect">
            <a:avLst>
              <a:gd fmla="val 3636" name="adj"/>
            </a:avLst>
          </a:prstGeom>
          <a:noFill/>
          <a:ln>
            <a:noFill/>
          </a:ln>
        </p:spPr>
      </p:pic>
      <p:sp>
        <p:nvSpPr>
          <p:cNvPr id="89" name="Google Shape;89;p8"/>
          <p:cNvSpPr/>
          <p:nvPr/>
        </p:nvSpPr>
        <p:spPr>
          <a:xfrm>
            <a:off x="609589" y="3336950"/>
            <a:ext cx="3773846"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09A55"/>
              </a:buClr>
              <a:buSzPts val="1200"/>
              <a:buFont typeface="IBM Plex Sans"/>
              <a:buNone/>
            </a:pPr>
            <a:r>
              <a:rPr b="1" lang="en-US" sz="1200">
                <a:solidFill>
                  <a:srgbClr val="F09A55"/>
                </a:solidFill>
                <a:latin typeface="IBM Plex Sans"/>
                <a:ea typeface="IBM Plex Sans"/>
                <a:cs typeface="IBM Plex Sans"/>
                <a:sym typeface="IBM Plex Sans"/>
              </a:rPr>
              <a:t>1</a:t>
            </a:r>
            <a:r>
              <a:rPr lang="en-US" sz="1200">
                <a:solidFill>
                  <a:srgbClr val="B9C4CC"/>
                </a:solidFill>
                <a:latin typeface="IBM Plex Sans"/>
                <a:ea typeface="IBM Plex Sans"/>
                <a:cs typeface="IBM Plex Sans"/>
                <a:sym typeface="IBM Plex Sans"/>
              </a:rPr>
              <a:t> Coordinator: what to do now</a:t>
            </a:r>
            <a:endParaRPr sz="1200">
              <a:solidFill>
                <a:schemeClr val="dk1"/>
              </a:solidFill>
              <a:latin typeface="IBM Plex Sans"/>
              <a:ea typeface="IBM Plex Sans"/>
              <a:cs typeface="IBM Plex Sans"/>
              <a:sym typeface="IBM Plex Sans"/>
            </a:endParaRPr>
          </a:p>
        </p:txBody>
      </p:sp>
      <p:pic>
        <p:nvPicPr>
          <p:cNvPr descr="Decision screen: Dr. Grace Okafor recommended, with everyone considered and the rule each failed" id="90" name="Google Shape;90;p8"/>
          <p:cNvPicPr preferRelativeResize="0"/>
          <p:nvPr/>
        </p:nvPicPr>
        <p:blipFill rotWithShape="1">
          <a:blip r:embed="rId4">
            <a:alphaModFix/>
          </a:blip>
          <a:srcRect b="0" l="-34" r="-34" t="0"/>
          <a:stretch/>
        </p:blipFill>
        <p:spPr>
          <a:xfrm>
            <a:off x="5241947" y="1177950"/>
            <a:ext cx="2019267" cy="2095500"/>
          </a:xfrm>
          <a:prstGeom prst="roundRect">
            <a:avLst>
              <a:gd fmla="val 3774" name="adj"/>
            </a:avLst>
          </a:prstGeom>
          <a:noFill/>
          <a:ln>
            <a:noFill/>
          </a:ln>
        </p:spPr>
      </p:pic>
      <p:sp>
        <p:nvSpPr>
          <p:cNvPr id="91" name="Google Shape;91;p8"/>
          <p:cNvSpPr/>
          <p:nvPr/>
        </p:nvSpPr>
        <p:spPr>
          <a:xfrm>
            <a:off x="5241947" y="3336950"/>
            <a:ext cx="2079845"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09A55"/>
              </a:buClr>
              <a:buSzPts val="1200"/>
              <a:buFont typeface="IBM Plex Sans"/>
              <a:buNone/>
            </a:pPr>
            <a:r>
              <a:rPr b="1" lang="en-US" sz="1200">
                <a:solidFill>
                  <a:srgbClr val="F09A55"/>
                </a:solidFill>
                <a:latin typeface="IBM Plex Sans"/>
                <a:ea typeface="IBM Plex Sans"/>
                <a:cs typeface="IBM Plex Sans"/>
                <a:sym typeface="IBM Plex Sans"/>
              </a:rPr>
              <a:t>2</a:t>
            </a:r>
            <a:r>
              <a:rPr lang="en-US" sz="1200">
                <a:solidFill>
                  <a:srgbClr val="B9C4CC"/>
                </a:solidFill>
                <a:latin typeface="IBM Plex Sans"/>
                <a:ea typeface="IBM Plex Sans"/>
                <a:cs typeface="IBM Plex Sans"/>
                <a:sym typeface="IBM Plex Sans"/>
              </a:rPr>
              <a:t> Every rule, every doctor</a:t>
            </a:r>
            <a:endParaRPr sz="1200">
              <a:solidFill>
                <a:schemeClr val="dk1"/>
              </a:solidFill>
              <a:latin typeface="IBM Plex Sans"/>
              <a:ea typeface="IBM Plex Sans"/>
              <a:cs typeface="IBM Plex Sans"/>
              <a:sym typeface="IBM Plex Sans"/>
            </a:endParaRPr>
          </a:p>
        </p:txBody>
      </p:sp>
      <p:pic>
        <p:nvPicPr>
          <p:cNvPr descr="Clinical lead screen: chosen Plan A beside Plan B, with Reject and Approve buttons" id="92" name="Google Shape;92;p8"/>
          <p:cNvPicPr preferRelativeResize="0"/>
          <p:nvPr/>
        </p:nvPicPr>
        <p:blipFill rotWithShape="1">
          <a:blip r:embed="rId5">
            <a:alphaModFix/>
          </a:blip>
          <a:srcRect b="-1" l="0" r="0" t="-1"/>
          <a:stretch/>
        </p:blipFill>
        <p:spPr>
          <a:xfrm>
            <a:off x="8229644" y="1177950"/>
            <a:ext cx="3352767" cy="2095500"/>
          </a:xfrm>
          <a:prstGeom prst="roundRect">
            <a:avLst>
              <a:gd fmla="val 3636" name="adj"/>
            </a:avLst>
          </a:prstGeom>
          <a:noFill/>
          <a:ln>
            <a:noFill/>
          </a:ln>
        </p:spPr>
      </p:pic>
      <p:sp>
        <p:nvSpPr>
          <p:cNvPr id="93" name="Google Shape;93;p8"/>
          <p:cNvSpPr/>
          <p:nvPr/>
        </p:nvSpPr>
        <p:spPr>
          <a:xfrm>
            <a:off x="8229644" y="3336950"/>
            <a:ext cx="3453350"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CCB9C"/>
              </a:buClr>
              <a:buSzPts val="1200"/>
              <a:buFont typeface="IBM Plex Sans"/>
              <a:buNone/>
            </a:pPr>
            <a:r>
              <a:rPr b="1" lang="en-US" sz="1200">
                <a:solidFill>
                  <a:srgbClr val="5CCB9C"/>
                </a:solidFill>
                <a:latin typeface="IBM Plex Sans"/>
                <a:ea typeface="IBM Plex Sans"/>
                <a:cs typeface="IBM Plex Sans"/>
                <a:sym typeface="IBM Plex Sans"/>
              </a:rPr>
              <a:t>3</a:t>
            </a:r>
            <a:r>
              <a:rPr lang="en-US" sz="1200">
                <a:solidFill>
                  <a:srgbClr val="B9C4CC"/>
                </a:solidFill>
                <a:latin typeface="IBM Plex Sans"/>
                <a:ea typeface="IBM Plex Sans"/>
                <a:cs typeface="IBM Plex Sans"/>
                <a:sym typeface="IBM Plex Sans"/>
              </a:rPr>
              <a:t> Clinical lead approves</a:t>
            </a:r>
            <a:endParaRPr sz="1200">
              <a:solidFill>
                <a:schemeClr val="dk1"/>
              </a:solidFill>
              <a:latin typeface="IBM Plex Sans"/>
              <a:ea typeface="IBM Plex Sans"/>
              <a:cs typeface="IBM Plex Sans"/>
              <a:sym typeface="IBM Plex Sans"/>
            </a:endParaRPr>
          </a:p>
        </p:txBody>
      </p:sp>
      <p:pic>
        <p:nvPicPr>
          <p:cNvPr descr="Doctor's phone: split-shift offer with hours, hospitals, reason, countdown, Accept and Decline" id="94" name="Google Shape;94;p8"/>
          <p:cNvPicPr preferRelativeResize="0"/>
          <p:nvPr/>
        </p:nvPicPr>
        <p:blipFill rotWithShape="1">
          <a:blip r:embed="rId6">
            <a:alphaModFix/>
          </a:blip>
          <a:srcRect b="0" l="-23" r="-23" t="0"/>
          <a:stretch/>
        </p:blipFill>
        <p:spPr>
          <a:xfrm>
            <a:off x="609589" y="3722963"/>
            <a:ext cx="1168356" cy="2527267"/>
          </a:xfrm>
          <a:prstGeom prst="roundRect">
            <a:avLst>
              <a:gd fmla="val 8696" name="adj"/>
            </a:avLst>
          </a:prstGeom>
          <a:noFill/>
          <a:ln>
            <a:noFill/>
          </a:ln>
        </p:spPr>
      </p:pic>
      <p:pic>
        <p:nvPicPr>
          <p:cNvPr descr="Doctor's phone: incoming AI-assisted call from the coverage assistant" id="95" name="Google Shape;95;p8"/>
          <p:cNvPicPr preferRelativeResize="0"/>
          <p:nvPr/>
        </p:nvPicPr>
        <p:blipFill rotWithShape="1">
          <a:blip r:embed="rId7">
            <a:alphaModFix/>
          </a:blip>
          <a:srcRect b="0" l="-23" r="-23" t="0"/>
          <a:stretch/>
        </p:blipFill>
        <p:spPr>
          <a:xfrm>
            <a:off x="1955712" y="3722963"/>
            <a:ext cx="1168356" cy="2527267"/>
          </a:xfrm>
          <a:prstGeom prst="roundRect">
            <a:avLst>
              <a:gd fmla="val 8696" name="adj"/>
            </a:avLst>
          </a:prstGeom>
          <a:noFill/>
          <a:ln cap="flat" cmpd="sng" w="38100">
            <a:solidFill>
              <a:schemeClr val="lt1"/>
            </a:solidFill>
            <a:prstDash val="solid"/>
            <a:round/>
            <a:headEnd len="sm" w="sm" type="none"/>
            <a:tailEnd len="sm" w="sm" type="none"/>
          </a:ln>
        </p:spPr>
      </p:pic>
      <p:sp>
        <p:nvSpPr>
          <p:cNvPr id="96" name="Google Shape;96;p8"/>
          <p:cNvSpPr/>
          <p:nvPr/>
        </p:nvSpPr>
        <p:spPr>
          <a:xfrm>
            <a:off x="3454191" y="4481106"/>
            <a:ext cx="8372068" cy="238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CCB9C"/>
              </a:buClr>
              <a:buSzPts val="1200"/>
              <a:buFont typeface="IBM Plex Sans"/>
              <a:buNone/>
            </a:pPr>
            <a:r>
              <a:rPr b="1" lang="en-US" sz="1200">
                <a:solidFill>
                  <a:srgbClr val="5CCB9C"/>
                </a:solidFill>
                <a:latin typeface="IBM Plex Sans"/>
                <a:ea typeface="IBM Plex Sans"/>
                <a:cs typeface="IBM Plex Sans"/>
                <a:sym typeface="IBM Plex Sans"/>
              </a:rPr>
              <a:t>4</a:t>
            </a:r>
            <a:r>
              <a:rPr lang="en-US" sz="1200">
                <a:solidFill>
                  <a:srgbClr val="B9C4CC"/>
                </a:solidFill>
                <a:latin typeface="IBM Plex Sans"/>
                <a:ea typeface="IBM Plex Sans"/>
                <a:cs typeface="IBM Plex Sans"/>
                <a:sym typeface="IBM Plex Sans"/>
              </a:rPr>
              <a:t> Doctor's phone: the offer · </a:t>
            </a:r>
            <a:r>
              <a:rPr b="1" lang="en-US" sz="1200">
                <a:solidFill>
                  <a:srgbClr val="5CCB9C"/>
                </a:solidFill>
                <a:latin typeface="IBM Plex Sans"/>
                <a:ea typeface="IBM Plex Sans"/>
                <a:cs typeface="IBM Plex Sans"/>
                <a:sym typeface="IBM Plex Sans"/>
              </a:rPr>
              <a:t>5</a:t>
            </a:r>
            <a:r>
              <a:rPr lang="en-US" sz="1200">
                <a:solidFill>
                  <a:srgbClr val="B9C4CC"/>
                </a:solidFill>
                <a:latin typeface="IBM Plex Sans"/>
                <a:ea typeface="IBM Plex Sans"/>
                <a:cs typeface="IBM Plex Sans"/>
                <a:sym typeface="IBM Plex Sans"/>
              </a:rPr>
              <a:t> AI follow-up call</a:t>
            </a:r>
            <a:endParaRPr sz="1200">
              <a:solidFill>
                <a:schemeClr val="dk1"/>
              </a:solidFill>
              <a:latin typeface="IBM Plex Sans"/>
              <a:ea typeface="IBM Plex Sans"/>
              <a:cs typeface="IBM Plex Sans"/>
              <a:sym typeface="IBM Plex Sans"/>
            </a:endParaRPr>
          </a:p>
        </p:txBody>
      </p:sp>
      <p:sp>
        <p:nvSpPr>
          <p:cNvPr id="97" name="Google Shape;97;p8"/>
          <p:cNvSpPr/>
          <p:nvPr/>
        </p:nvSpPr>
        <p:spPr>
          <a:xfrm>
            <a:off x="3454191" y="4821482"/>
            <a:ext cx="8372068" cy="69589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4F1"/>
              </a:buClr>
              <a:buSzPts val="2200"/>
              <a:buFont typeface="IBM Plex Sans"/>
              <a:buNone/>
            </a:pPr>
            <a:r>
              <a:rPr b="1" lang="en-US" sz="2200">
                <a:solidFill>
                  <a:srgbClr val="F4F4F1"/>
                </a:solidFill>
                <a:latin typeface="IBM Plex Sans"/>
                <a:ea typeface="IBM Plex Sans"/>
                <a:cs typeface="IBM Plex Sans"/>
                <a:sym typeface="IBM Plex Sans"/>
              </a:rPr>
              <a:t>From a gap spotted to a doctor saying yes: one clear screen for each person.</a:t>
            </a:r>
            <a:endParaRPr sz="2200">
              <a:solidFill>
                <a:schemeClr val="dk1"/>
              </a:solidFill>
              <a:latin typeface="IBM Plex Sans"/>
              <a:ea typeface="IBM Plex Sans"/>
              <a:cs typeface="IBM Plex Sans"/>
              <a:sym typeface="IBM Plex Sans"/>
            </a:endParaRPr>
          </a:p>
        </p:txBody>
      </p:sp>
      <p:pic>
        <p:nvPicPr>
          <p:cNvPr id="98" name="Google Shape;98;p8"/>
          <p:cNvPicPr preferRelativeResize="0"/>
          <p:nvPr/>
        </p:nvPicPr>
        <p:blipFill rotWithShape="1">
          <a:blip r:embed="rId8">
            <a:alphaModFix/>
          </a:blip>
          <a:srcRect b="0" l="0" r="0" t="0"/>
          <a:stretch/>
        </p:blipFill>
        <p:spPr>
          <a:xfrm>
            <a:off x="9956319" y="-79630"/>
            <a:ext cx="2146852" cy="10734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overGap — Mind the gap. Close the gap.">
  <a:themeElements>
    <a:clrScheme name="CoverGap — Mind the gap. Close the gap.">
      <a:dk1>
        <a:srgbClr val="1D2830"/>
      </a:dk1>
      <a:lt1>
        <a:srgbClr val="F4F4F1"/>
      </a:lt1>
      <a:dk2>
        <a:srgbClr val="535B60"/>
      </a:dk2>
      <a:lt2>
        <a:srgbClr val="DFE0DE"/>
      </a:lt2>
      <a:accent1>
        <a:srgbClr val="0F7A55"/>
      </a:accent1>
      <a:accent2>
        <a:srgbClr val="A64F0F"/>
      </a:accent2>
      <a:accent3>
        <a:srgbClr val="C25E14"/>
      </a:accent3>
      <a:accent4>
        <a:srgbClr val="3A4750"/>
      </a:accent4>
      <a:accent5>
        <a:srgbClr val="B9C4CC"/>
      </a:accent5>
      <a:accent6>
        <a:srgbClr val="5B687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